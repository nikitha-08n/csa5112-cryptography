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00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052560" y="0"/>
            <a:ext cx="3136392" cy="6858000"/>
          </a:xfrm>
          <a:prstGeom prst="round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92640" y="640080"/>
            <a:ext cx="1920240" cy="1920240"/>
          </a:xfrm>
          <a:prstGeom prst="roundRect">
            <a:avLst/>
          </a:prstGeom>
          <a:solidFill>
            <a:srgbClr val="163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241280" y="2971800"/>
            <a:ext cx="1234440" cy="1234440"/>
          </a:xfrm>
          <a:prstGeom prst="roundRect">
            <a:avLst/>
          </a:prstGeom>
          <a:solidFill>
            <a:srgbClr val="114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35440" y="4892040"/>
            <a:ext cx="2103120" cy="1325880"/>
          </a:xfrm>
          <a:prstGeom prst="roundRect">
            <a:avLst/>
          </a:prstGeom>
          <a:solidFill>
            <a:srgbClr val="13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46920" y="1115568"/>
            <a:ext cx="164592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5200" b="1" i="0">
                <a:solidFill>
                  <a:srgbClr val="2AD5E6"/>
                </a:solidFill>
                <a:latin typeface="Aptos"/>
              </a:rPr>
              <a:t>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1901952"/>
            <a:ext cx="18288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E5F0F9"/>
                </a:solidFill>
                <a:latin typeface="Aptos"/>
              </a:rPr>
              <a:t>PRIVACY  •  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47088"/>
            <a:ext cx="7955279" cy="1600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 i="0" dirty="0">
                <a:solidFill>
                  <a:srgbClr val="F8FBFF"/>
                </a:solidFill>
                <a:latin typeface="Aptos"/>
              </a:rPr>
              <a:t>Fresh Privacy-Preserving
Student Data Exchange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740664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 dirty="0">
                <a:solidFill>
                  <a:srgbClr val="2AD5E6"/>
                </a:solidFill>
                <a:latin typeface="Aptos"/>
              </a:rPr>
              <a:t>Using Attribute-Based Encryption (ABE)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023360"/>
            <a:ext cx="3544400" cy="171944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2AD5E6"/>
                </a:solidFill>
                <a:latin typeface="Aptos"/>
              </a:rPr>
              <a:t>Team Members</a:t>
            </a: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E5F0F9"/>
                </a:solidFill>
                <a:latin typeface="Aptos"/>
              </a:rPr>
              <a:t>192324226  |  P. Nikitha</a:t>
            </a: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E5F0F9"/>
                </a:solidFill>
                <a:latin typeface="Aptos"/>
              </a:rPr>
              <a:t>192324145  |  Ch. Ishwarya</a:t>
            </a: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E5F0F9"/>
                </a:solidFill>
                <a:latin typeface="Aptos"/>
              </a:rPr>
              <a:t>192424303  |  P. Sunayana</a:t>
            </a: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E5F0F9"/>
                </a:solidFill>
                <a:latin typeface="Aptos"/>
              </a:rPr>
              <a:t>Department: Computer Science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172200"/>
            <a:ext cx="7040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E5F0F9"/>
                </a:solidFill>
                <a:latin typeface="Aptos"/>
              </a:rPr>
              <a:t>Problem identification  |  System design  |  Initial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E5F0F9"/>
                </a:solidFill>
                <a:latin typeface="Aptos"/>
              </a:rPr>
              <a:t>01/17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B6FFBD-4E1B-4C46-ED4D-3C850F1DE135}"/>
              </a:ext>
            </a:extLst>
          </p:cNvPr>
          <p:cNvSpPr txBox="1"/>
          <p:nvPr/>
        </p:nvSpPr>
        <p:spPr>
          <a:xfrm>
            <a:off x="6063281" y="4186563"/>
            <a:ext cx="2605230" cy="69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IN" dirty="0">
                <a:solidFill>
                  <a:srgbClr val="E5F0F9"/>
                </a:solidFill>
                <a:latin typeface="Aptos"/>
              </a:rPr>
              <a:t>Project Guide: </a:t>
            </a:r>
          </a:p>
          <a:p>
            <a:pPr>
              <a:spcAft>
                <a:spcPts val="400"/>
              </a:spcAft>
            </a:pPr>
            <a:r>
              <a:rPr lang="en-IN" dirty="0">
                <a:solidFill>
                  <a:srgbClr val="E5F0F9"/>
                </a:solidFill>
                <a:latin typeface="Aptos"/>
              </a:rPr>
              <a:t>Dr. Sivasankar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4631" y="481392"/>
            <a:ext cx="109728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 dirty="0">
                <a:solidFill>
                  <a:srgbClr val="0D1B36"/>
                </a:solidFill>
                <a:latin typeface="Aptos"/>
              </a:rPr>
              <a:t>Introduction &amp;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05725"/>
            <a:ext cx="1078992" cy="5029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5B6D84"/>
                </a:solidFill>
                <a:latin typeface="Aptos"/>
              </a:rPr>
              <a:t>02/17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81328"/>
            <a:ext cx="5349240" cy="36118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536192"/>
            <a:ext cx="64008" cy="350215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18488"/>
            <a:ext cx="502920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 dirty="0">
                <a:solidFill>
                  <a:srgbClr val="0D1B36"/>
                </a:solidFill>
                <a:latin typeface="Aptos"/>
              </a:rP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3" y="2123954"/>
            <a:ext cx="5093207" cy="2364173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lnSpc>
                <a:spcPct val="150000"/>
              </a:lnSpc>
              <a:spcAft>
                <a:spcPts val="500"/>
              </a:spcAft>
              <a:defRPr sz="1600">
                <a:solidFill>
                  <a:srgbClr val="233146"/>
                </a:solidFill>
                <a:latin typeface="Aptos"/>
              </a:defRPr>
            </a:pPr>
            <a:r>
              <a:rPr sz="1400" b="1" dirty="0">
                <a:solidFill>
                  <a:srgbClr val="2AD5E6"/>
                </a:solidFill>
                <a:latin typeface="Aptos"/>
              </a:rPr>
              <a:t>●  </a:t>
            </a:r>
            <a:r>
              <a:rPr sz="1600" b="1" dirty="0">
                <a:solidFill>
                  <a:srgbClr val="233146"/>
                </a:solidFill>
                <a:latin typeface="Aptos"/>
              </a:rPr>
              <a:t>Sensitive records: </a:t>
            </a:r>
            <a:r>
              <a:rPr sz="1600" dirty="0">
                <a:solidFill>
                  <a:srgbClr val="233146"/>
                </a:solidFill>
                <a:latin typeface="Aptos"/>
              </a:rPr>
              <a:t>grades, enrolment details and academic documents need protection.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600">
                <a:solidFill>
                  <a:srgbClr val="233146"/>
                </a:solidFill>
                <a:latin typeface="Aptos"/>
              </a:defRPr>
            </a:pPr>
            <a:r>
              <a:rPr sz="1400" b="1" dirty="0">
                <a:solidFill>
                  <a:srgbClr val="2AD5E6"/>
                </a:solidFill>
                <a:latin typeface="Aptos"/>
              </a:rPr>
              <a:t>●  </a:t>
            </a:r>
            <a:r>
              <a:rPr sz="1600" b="1" dirty="0">
                <a:solidFill>
                  <a:srgbClr val="233146"/>
                </a:solidFill>
                <a:latin typeface="Aptos"/>
              </a:rPr>
              <a:t>Legitimate sharing: </a:t>
            </a:r>
            <a:r>
              <a:rPr sz="1600" dirty="0">
                <a:solidFill>
                  <a:srgbClr val="233146"/>
                </a:solidFill>
                <a:latin typeface="Aptos"/>
              </a:rPr>
              <a:t>authorized staff and departments need timely access.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600">
                <a:solidFill>
                  <a:srgbClr val="233146"/>
                </a:solidFill>
                <a:latin typeface="Aptos"/>
              </a:defRPr>
            </a:pPr>
            <a:r>
              <a:rPr sz="1400" b="1" dirty="0">
                <a:solidFill>
                  <a:srgbClr val="2AD5E6"/>
                </a:solidFill>
                <a:latin typeface="Aptos"/>
              </a:rPr>
              <a:t>●  </a:t>
            </a:r>
            <a:r>
              <a:rPr sz="1600" b="1" dirty="0">
                <a:solidFill>
                  <a:srgbClr val="233146"/>
                </a:solidFill>
                <a:latin typeface="Aptos"/>
              </a:rPr>
              <a:t>Flexible access: </a:t>
            </a:r>
            <a:r>
              <a:rPr sz="1600" dirty="0">
                <a:solidFill>
                  <a:srgbClr val="233146"/>
                </a:solidFill>
                <a:latin typeface="Aptos"/>
              </a:rPr>
              <a:t>permissions may depend on department, role and purpose.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81328"/>
            <a:ext cx="5349240" cy="36118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36192"/>
            <a:ext cx="64008" cy="3502152"/>
          </a:xfrm>
          <a:prstGeom prst="rect">
            <a:avLst/>
          </a:prstGeom>
          <a:solidFill>
            <a:srgbClr val="FF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18488"/>
            <a:ext cx="502920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 dirty="0">
                <a:solidFill>
                  <a:srgbClr val="0D1B36"/>
                </a:solidFill>
                <a:latin typeface="Aptos"/>
              </a:rPr>
              <a:t>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011680"/>
            <a:ext cx="5093207" cy="2364173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lnSpc>
                <a:spcPct val="150000"/>
              </a:lnSpc>
              <a:spcAft>
                <a:spcPts val="500"/>
              </a:spcAft>
              <a:defRPr sz="1600">
                <a:solidFill>
                  <a:srgbClr val="233146"/>
                </a:solidFill>
                <a:latin typeface="Aptos"/>
              </a:defRPr>
            </a:pPr>
            <a:r>
              <a:rPr sz="1400" b="1" dirty="0">
                <a:solidFill>
                  <a:srgbClr val="FFB44A"/>
                </a:solidFill>
                <a:latin typeface="Aptos"/>
              </a:rPr>
              <a:t>●  </a:t>
            </a:r>
            <a:r>
              <a:rPr sz="1600" b="1" dirty="0">
                <a:solidFill>
                  <a:srgbClr val="233146"/>
                </a:solidFill>
                <a:latin typeface="Aptos"/>
              </a:rPr>
              <a:t>Risk: </a:t>
            </a:r>
            <a:r>
              <a:rPr sz="1600" dirty="0">
                <a:solidFill>
                  <a:srgbClr val="233146"/>
                </a:solidFill>
                <a:latin typeface="Aptos"/>
              </a:rPr>
              <a:t>weak or overly broad controls can expose confidential student information.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600">
                <a:solidFill>
                  <a:srgbClr val="233146"/>
                </a:solidFill>
                <a:latin typeface="Aptos"/>
              </a:defRPr>
            </a:pPr>
            <a:r>
              <a:rPr sz="1400" b="1" dirty="0">
                <a:solidFill>
                  <a:srgbClr val="FFB44A"/>
                </a:solidFill>
                <a:latin typeface="Aptos"/>
              </a:rPr>
              <a:t>●  </a:t>
            </a:r>
            <a:r>
              <a:rPr sz="1600" b="1" dirty="0">
                <a:solidFill>
                  <a:srgbClr val="233146"/>
                </a:solidFill>
                <a:latin typeface="Aptos"/>
              </a:rPr>
              <a:t>Challenge: </a:t>
            </a:r>
            <a:r>
              <a:rPr sz="1600" dirty="0">
                <a:solidFill>
                  <a:srgbClr val="233146"/>
                </a:solidFill>
                <a:latin typeface="Aptos"/>
              </a:rPr>
              <a:t>centralized permissions may not express detailed sharing rules.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600">
                <a:solidFill>
                  <a:srgbClr val="233146"/>
                </a:solidFill>
                <a:latin typeface="Aptos"/>
              </a:defRPr>
            </a:pPr>
            <a:r>
              <a:rPr sz="1400" b="1" dirty="0">
                <a:solidFill>
                  <a:srgbClr val="FFB44A"/>
                </a:solidFill>
                <a:latin typeface="Aptos"/>
              </a:rPr>
              <a:t>●  </a:t>
            </a:r>
            <a:r>
              <a:rPr sz="1600" b="1" dirty="0">
                <a:solidFill>
                  <a:srgbClr val="233146"/>
                </a:solidFill>
                <a:latin typeface="Aptos"/>
              </a:rPr>
              <a:t>Need: </a:t>
            </a:r>
            <a:r>
              <a:rPr sz="1600" dirty="0">
                <a:solidFill>
                  <a:srgbClr val="233146"/>
                </a:solidFill>
                <a:latin typeface="Aptos"/>
              </a:rPr>
              <a:t>combine secure storage, policy-based access and traceable activity.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0D1B36"/>
                </a:solidFill>
                <a:latin typeface="Aptos"/>
              </a:rPr>
              <a:t>Project focus: make access depend on approved attributes and cryptographic policy—not simply on possession of a 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7754" y="576535"/>
            <a:ext cx="109728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 dirty="0">
                <a:solidFill>
                  <a:srgbClr val="0D1B36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052023"/>
            <a:ext cx="1078992" cy="5029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5B6D84"/>
                </a:solidFill>
                <a:latin typeface="Aptos"/>
              </a:rPr>
              <a:t>03/17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81328"/>
            <a:ext cx="3547872" cy="166420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536192"/>
            <a:ext cx="64008" cy="1554480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618488"/>
            <a:ext cx="32278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01  |  Secure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11680"/>
            <a:ext cx="3200400" cy="10424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146"/>
                </a:solidFill>
                <a:latin typeface="Aptos"/>
              </a:rPr>
              <a:t>Organize student records and metadata.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481328"/>
            <a:ext cx="3547872" cy="166420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59" y="1536192"/>
            <a:ext cx="64008" cy="1554480"/>
          </a:xfrm>
          <a:prstGeom prst="rect">
            <a:avLst/>
          </a:prstGeom>
          <a:solidFill>
            <a:srgbClr val="14A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618488"/>
            <a:ext cx="32278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02  |  Identity &amp; attributes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3200400" cy="10424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146"/>
                </a:solidFill>
                <a:latin typeface="Aptos"/>
              </a:rPr>
              <a:t>Manage users, roles and attributes.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9327" y="1481328"/>
            <a:ext cx="3547872" cy="166420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39327" y="1536192"/>
            <a:ext cx="64008" cy="1554480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22207" y="1618488"/>
            <a:ext cx="32278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03  |  Fine-grained policies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7" y="2011680"/>
            <a:ext cx="3200400" cy="10424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146"/>
                </a:solidFill>
                <a:latin typeface="Aptos"/>
              </a:rPr>
              <a:t>Express who can access which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511296"/>
            <a:ext cx="3547872" cy="166420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" y="3566160"/>
            <a:ext cx="64008" cy="1554480"/>
          </a:xfrm>
          <a:prstGeom prst="rect">
            <a:avLst/>
          </a:prstGeom>
          <a:solidFill>
            <a:srgbClr val="14A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648456"/>
            <a:ext cx="32278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04  |  Encryption &amp; keys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041648"/>
            <a:ext cx="3200400" cy="10424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146"/>
                </a:solidFill>
                <a:latin typeface="Aptos"/>
              </a:rPr>
              <a:t>Protect data and handle key material safely.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511296"/>
            <a:ext cx="3547872" cy="166420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59" y="3566160"/>
            <a:ext cx="64008" cy="1554480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648456"/>
            <a:ext cx="32278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05  |  Controlled sharing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41648"/>
            <a:ext cx="3200400" cy="10424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146"/>
                </a:solidFill>
                <a:latin typeface="Aptos"/>
              </a:rPr>
              <a:t>Enforce policy before plaintext is revealed.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9327" y="3511296"/>
            <a:ext cx="3547872" cy="166420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39327" y="3566160"/>
            <a:ext cx="64008" cy="1554480"/>
          </a:xfrm>
          <a:prstGeom prst="rect">
            <a:avLst/>
          </a:prstGeom>
          <a:solidFill>
            <a:srgbClr val="14A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22207" y="3648456"/>
            <a:ext cx="32278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06  |  Auditability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7" y="4041648"/>
            <a:ext cx="3200400" cy="10424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146"/>
                </a:solidFill>
                <a:latin typeface="Aptos"/>
              </a:rPr>
              <a:t>Record access decisions and relevant events.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657557"/>
            <a:ext cx="109728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 dirty="0">
                <a:solidFill>
                  <a:srgbClr val="0D1B36"/>
                </a:solidFill>
                <a:latin typeface="Aptos"/>
              </a:rPr>
              <a:t>Literature Survey &amp; Research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33045"/>
            <a:ext cx="1078992" cy="5029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5B6D84"/>
                </a:solidFill>
                <a:latin typeface="Aptos"/>
              </a:rPr>
              <a:t>04/17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08760"/>
            <a:ext cx="3547872" cy="23317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563624"/>
            <a:ext cx="64008" cy="2221991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645919"/>
            <a:ext cx="32278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Sahai &amp; Waters • 2005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39112"/>
            <a:ext cx="3291839" cy="1709927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3146"/>
                </a:solidFill>
                <a:latin typeface="Aptos"/>
              </a:defRPr>
            </a:pPr>
            <a:r>
              <a:rPr sz="1100" b="1">
                <a:solidFill>
                  <a:srgbClr val="2AD5E6"/>
                </a:solidFill>
                <a:latin typeface="Aptos"/>
              </a:rPr>
              <a:t>●  </a:t>
            </a:r>
            <a:r>
              <a:rPr sz="1300" b="1">
                <a:solidFill>
                  <a:srgbClr val="233146"/>
                </a:solidFill>
                <a:latin typeface="Aptos"/>
              </a:rPr>
              <a:t>Fuzzy Identity-Based Encryption: </a:t>
            </a:r>
          </a:p>
          <a:p>
            <a:pPr>
              <a:spcAft>
                <a:spcPts val="500"/>
              </a:spcAft>
              <a:defRPr sz="1300">
                <a:solidFill>
                  <a:srgbClr val="233146"/>
                </a:solidFill>
                <a:latin typeface="Aptos"/>
              </a:defRPr>
            </a:pPr>
            <a:r>
              <a:rPr sz="1100" b="1">
                <a:solidFill>
                  <a:srgbClr val="2AD5E6"/>
                </a:solidFill>
                <a:latin typeface="Aptos"/>
              </a:rPr>
              <a:t>●  </a:t>
            </a:r>
            <a:r>
              <a:rPr sz="1300">
                <a:solidFill>
                  <a:srgbClr val="233146"/>
                </a:solidFill>
                <a:latin typeface="Aptos"/>
              </a:rPr>
              <a:t>Introduced a foundational approach that helped motivate attribute-based cryptography.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508760"/>
            <a:ext cx="3547872" cy="23317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62272" y="1563624"/>
            <a:ext cx="64008" cy="2221991"/>
          </a:xfrm>
          <a:prstGeom prst="rect">
            <a:avLst/>
          </a:prstGeom>
          <a:solidFill>
            <a:srgbClr val="14A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1645919"/>
            <a:ext cx="32278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Bethencourt, Sahai &amp; Waters • 2007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039112"/>
            <a:ext cx="3291839" cy="1709927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3146"/>
                </a:solidFill>
                <a:latin typeface="Aptos"/>
              </a:defRPr>
            </a:pPr>
            <a:r>
              <a:rPr sz="1100" b="1">
                <a:solidFill>
                  <a:srgbClr val="14ABBE"/>
                </a:solidFill>
                <a:latin typeface="Aptos"/>
              </a:rPr>
              <a:t>●  </a:t>
            </a:r>
            <a:r>
              <a:rPr sz="1300" b="1">
                <a:solidFill>
                  <a:srgbClr val="233146"/>
                </a:solidFill>
                <a:latin typeface="Aptos"/>
              </a:rPr>
              <a:t>Ciphertext-Policy ABE: </a:t>
            </a:r>
          </a:p>
          <a:p>
            <a:pPr>
              <a:spcAft>
                <a:spcPts val="500"/>
              </a:spcAft>
              <a:defRPr sz="1300">
                <a:solidFill>
                  <a:srgbClr val="233146"/>
                </a:solidFill>
                <a:latin typeface="Aptos"/>
              </a:defRPr>
            </a:pPr>
            <a:r>
              <a:rPr sz="1100" b="1">
                <a:solidFill>
                  <a:srgbClr val="14ABBE"/>
                </a:solidFill>
                <a:latin typeface="Aptos"/>
              </a:rPr>
              <a:t>●  </a:t>
            </a:r>
            <a:r>
              <a:rPr sz="1300">
                <a:solidFill>
                  <a:srgbClr val="233146"/>
                </a:solidFill>
                <a:latin typeface="Aptos"/>
              </a:rPr>
              <a:t>Presented CP-ABE, where ciphertexts carry access policies.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1508760"/>
            <a:ext cx="3547872" cy="23317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02752" y="1563624"/>
            <a:ext cx="64008" cy="2221991"/>
          </a:xfrm>
          <a:prstGeom prst="rect">
            <a:avLst/>
          </a:prstGeom>
          <a:solidFill>
            <a:srgbClr val="FF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85632" y="1645919"/>
            <a:ext cx="32278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Waters • 2011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039112"/>
            <a:ext cx="3291839" cy="1709927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3146"/>
                </a:solidFill>
                <a:latin typeface="Aptos"/>
              </a:defRPr>
            </a:pPr>
            <a:r>
              <a:rPr sz="1100" b="1">
                <a:solidFill>
                  <a:srgbClr val="FFB44A"/>
                </a:solidFill>
                <a:latin typeface="Aptos"/>
              </a:rPr>
              <a:t>●  </a:t>
            </a:r>
            <a:r>
              <a:rPr sz="1300" b="1">
                <a:solidFill>
                  <a:srgbClr val="233146"/>
                </a:solidFill>
                <a:latin typeface="Aptos"/>
              </a:rPr>
              <a:t>Expressive CP-ABE construction: </a:t>
            </a:r>
          </a:p>
          <a:p>
            <a:pPr>
              <a:spcAft>
                <a:spcPts val="500"/>
              </a:spcAft>
              <a:defRPr sz="1300">
                <a:solidFill>
                  <a:srgbClr val="233146"/>
                </a:solidFill>
                <a:latin typeface="Aptos"/>
              </a:defRPr>
            </a:pPr>
            <a:r>
              <a:rPr sz="1100" b="1">
                <a:solidFill>
                  <a:srgbClr val="FFB44A"/>
                </a:solidFill>
                <a:latin typeface="Aptos"/>
              </a:rPr>
              <a:t>●  </a:t>
            </a:r>
            <a:r>
              <a:rPr sz="1300">
                <a:solidFill>
                  <a:srgbClr val="233146"/>
                </a:solidFill>
                <a:latin typeface="Aptos"/>
              </a:rPr>
              <a:t>Advanced expressive access-policy constructions and efficiency.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" y="4236218"/>
            <a:ext cx="10789920" cy="13258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3232" y="4306824"/>
            <a:ext cx="64008" cy="121615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389120"/>
            <a:ext cx="104698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D1B36"/>
                </a:solidFill>
                <a:latin typeface="Aptos"/>
              </a:rPr>
              <a:t>Research gap addressed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782312"/>
            <a:ext cx="10533888" cy="704087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3146"/>
                </a:solidFill>
                <a:latin typeface="Aptos"/>
              </a:defRPr>
            </a:pPr>
            <a:r>
              <a:rPr sz="1400" b="1">
                <a:solidFill>
                  <a:srgbClr val="2AD5E6"/>
                </a:solidFill>
                <a:latin typeface="Aptos"/>
              </a:rPr>
              <a:t>●  </a:t>
            </a:r>
            <a:r>
              <a:rPr sz="1600">
                <a:solidFill>
                  <a:srgbClr val="233146"/>
                </a:solidFill>
                <a:latin typeface="Aptos"/>
              </a:rPr>
              <a:t>Integrate student record management, attribute-based authorization, encrypted sharing, key administration and audit logging in one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1367" y="504541"/>
            <a:ext cx="109728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 dirty="0">
                <a:solidFill>
                  <a:srgbClr val="0D1B36"/>
                </a:solidFill>
                <a:latin typeface="Aptos"/>
              </a:rPr>
              <a:t>Existing System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94150"/>
            <a:ext cx="1078992" cy="5029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5B6D84"/>
                </a:solidFill>
                <a:latin typeface="Aptos"/>
              </a:rPr>
              <a:t>05/17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53312"/>
            <a:ext cx="502920" cy="475488"/>
          </a:xfrm>
          <a:prstGeom prst="roundRect">
            <a:avLst/>
          </a:prstGeom>
          <a:solidFill>
            <a:srgbClr val="FFEFE4"/>
          </a:solidFill>
          <a:ln w="17780">
            <a:solidFill>
              <a:srgbClr val="FF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E55D6D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335024"/>
            <a:ext cx="288036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D1B36"/>
                </a:solidFill>
                <a:latin typeface="Aptos"/>
              </a:rPr>
              <a:t>Single point of compromise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335024"/>
            <a:ext cx="71323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33146"/>
                </a:solidFill>
                <a:latin typeface="Aptos"/>
              </a:rPr>
              <a:t>Centralized storage can concentrate risk.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1481328" y="1920240"/>
            <a:ext cx="9646920" cy="10972"/>
          </a:xfrm>
          <a:prstGeom prst="rect">
            <a:avLst/>
          </a:prstGeom>
          <a:solidFill>
            <a:srgbClr val="E5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" y="2249424"/>
            <a:ext cx="502920" cy="475488"/>
          </a:xfrm>
          <a:prstGeom prst="roundRect">
            <a:avLst/>
          </a:prstGeom>
          <a:solidFill>
            <a:srgbClr val="FFEFE4"/>
          </a:solidFill>
          <a:ln w="17780">
            <a:solidFill>
              <a:srgbClr val="FF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E55D6D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231136"/>
            <a:ext cx="288036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D1B36"/>
                </a:solidFill>
                <a:latin typeface="Aptos"/>
              </a:rPr>
              <a:t>Broad permissions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231136"/>
            <a:ext cx="71323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33146"/>
                </a:solidFill>
                <a:latin typeface="Aptos"/>
              </a:rPr>
              <a:t>Simple role-based access may be too coarse.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81328" y="2816352"/>
            <a:ext cx="9646920" cy="10972"/>
          </a:xfrm>
          <a:prstGeom prst="rect">
            <a:avLst/>
          </a:prstGeom>
          <a:solidFill>
            <a:srgbClr val="E5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" y="3145536"/>
            <a:ext cx="502920" cy="475488"/>
          </a:xfrm>
          <a:prstGeom prst="roundRect">
            <a:avLst/>
          </a:prstGeom>
          <a:solidFill>
            <a:srgbClr val="FFEFE4"/>
          </a:solidFill>
          <a:ln w="17780">
            <a:solidFill>
              <a:srgbClr val="FF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E55D6D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127248"/>
            <a:ext cx="288036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D1B36"/>
                </a:solidFill>
                <a:latin typeface="Aptos"/>
              </a:rPr>
              <a:t>Protection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127248"/>
            <a:ext cx="71323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33146"/>
                </a:solidFill>
                <a:latin typeface="Aptos"/>
              </a:rPr>
              <a:t>Files may be exposed if storage or transfer protections are weak.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712463"/>
            <a:ext cx="9646920" cy="10972"/>
          </a:xfrm>
          <a:prstGeom prst="rect">
            <a:avLst/>
          </a:prstGeom>
          <a:solidFill>
            <a:srgbClr val="E5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7240" y="4041648"/>
            <a:ext cx="502920" cy="475488"/>
          </a:xfrm>
          <a:prstGeom prst="roundRect">
            <a:avLst/>
          </a:prstGeom>
          <a:solidFill>
            <a:srgbClr val="FFEFE4"/>
          </a:solidFill>
          <a:ln w="17780">
            <a:solidFill>
              <a:srgbClr val="FF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E55D6D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023360"/>
            <a:ext cx="288036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D1B36"/>
                </a:solidFill>
                <a:latin typeface="Aptos"/>
              </a:rPr>
              <a:t>Slow permission 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023360"/>
            <a:ext cx="71323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33146"/>
                </a:solidFill>
                <a:latin typeface="Aptos"/>
              </a:rPr>
              <a:t>Changes can be difficult to coordinate across systems.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81328" y="4608576"/>
            <a:ext cx="9646920" cy="10972"/>
          </a:xfrm>
          <a:prstGeom prst="rect">
            <a:avLst/>
          </a:prstGeom>
          <a:solidFill>
            <a:srgbClr val="E5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77240" y="4937760"/>
            <a:ext cx="502920" cy="475488"/>
          </a:xfrm>
          <a:prstGeom prst="roundRect">
            <a:avLst/>
          </a:prstGeom>
          <a:solidFill>
            <a:srgbClr val="FFEFE4"/>
          </a:solidFill>
          <a:ln w="17780">
            <a:solidFill>
              <a:srgbClr val="FFB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E55D6D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919472"/>
            <a:ext cx="288036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D1B36"/>
                </a:solidFill>
                <a:latin typeface="Aptos"/>
              </a:rPr>
              <a:t>Limited traceability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919472"/>
            <a:ext cx="71323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233146"/>
                </a:solidFill>
                <a:latin typeface="Aptos"/>
              </a:rPr>
              <a:t>Incomplete logs can complicate investigations.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7755" y="512064"/>
            <a:ext cx="109728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 dirty="0">
                <a:solidFill>
                  <a:srgbClr val="0D1B36"/>
                </a:solidFill>
                <a:latin typeface="Aptos"/>
              </a:rPr>
              <a:t>Proposed System &amp; 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789" y="1040448"/>
            <a:ext cx="1078992" cy="5029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5B6D84"/>
                </a:solidFill>
                <a:latin typeface="Aptos"/>
              </a:rPr>
              <a:t>06/17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057400" cy="914400"/>
          </a:xfrm>
          <a:prstGeom prst="roundRect">
            <a:avLst/>
          </a:prstGeom>
          <a:solidFill>
            <a:srgbClr val="142A4E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8FBFF"/>
                </a:solidFill>
                <a:latin typeface="Aptos"/>
              </a:rPr>
              <a:t>User &amp; attributes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874519"/>
            <a:ext cx="2057400" cy="914400"/>
          </a:xfrm>
          <a:prstGeom prst="roundRect">
            <a:avLst/>
          </a:prstGeom>
          <a:solidFill>
            <a:srgbClr val="142A4E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8FBFF"/>
                </a:solidFill>
                <a:latin typeface="Aptos"/>
              </a:rPr>
              <a:t>Access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874519"/>
            <a:ext cx="2057400" cy="914400"/>
          </a:xfrm>
          <a:prstGeom prst="roundRect">
            <a:avLst/>
          </a:prstGeom>
          <a:solidFill>
            <a:srgbClr val="142A4E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8FBFF"/>
                </a:solidFill>
                <a:latin typeface="Aptos"/>
              </a:rPr>
              <a:t>Encrypted record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74519"/>
            <a:ext cx="2057400" cy="914400"/>
          </a:xfrm>
          <a:prstGeom prst="roundRect">
            <a:avLst/>
          </a:prstGeom>
          <a:solidFill>
            <a:srgbClr val="142A4E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8FBFF"/>
                </a:solidFill>
                <a:latin typeface="Aptos"/>
              </a:rPr>
              <a:t>Policy-based
decryption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12680" y="3749039"/>
            <a:ext cx="1508760" cy="868680"/>
          </a:xfrm>
          <a:prstGeom prst="roundRect">
            <a:avLst/>
          </a:prstGeom>
          <a:solidFill>
            <a:srgbClr val="106971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8FBFF"/>
                </a:solidFill>
                <a:latin typeface="Aptos"/>
              </a:rPr>
              <a:t>Audit log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97480" y="2331720"/>
            <a:ext cx="411480" cy="0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66360" y="2331720"/>
            <a:ext cx="411480" cy="0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35240" y="2331720"/>
            <a:ext cx="411480" cy="0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98280" y="2788920"/>
            <a:ext cx="1463040" cy="960119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3840480"/>
            <a:ext cx="3291840" cy="13258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895344"/>
            <a:ext cx="64008" cy="121615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977640"/>
            <a:ext cx="2971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D1B36"/>
                </a:solidFill>
                <a:latin typeface="Aptos"/>
              </a:rPr>
              <a:t>Confidentiality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70832"/>
            <a:ext cx="2944368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146"/>
                </a:solidFill>
                <a:latin typeface="Aptos"/>
              </a:rPr>
              <a:t>Records remain encrypted while stored or shared.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3840480"/>
            <a:ext cx="3291840" cy="13258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15968" y="3895344"/>
            <a:ext cx="64008" cy="1216152"/>
          </a:xfrm>
          <a:prstGeom prst="rect">
            <a:avLst/>
          </a:prstGeom>
          <a:solidFill>
            <a:srgbClr val="14A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98848" y="3977640"/>
            <a:ext cx="2971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D1B36"/>
                </a:solidFill>
                <a:latin typeface="Aptos"/>
              </a:rPr>
              <a:t>Fine-grained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370832"/>
            <a:ext cx="2944368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146"/>
                </a:solidFill>
                <a:latin typeface="Aptos"/>
              </a:rPr>
              <a:t>Attributes express more specific access conditions.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82127" y="4892040"/>
            <a:ext cx="1965960" cy="9144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882127" y="4946903"/>
            <a:ext cx="64008" cy="804672"/>
          </a:xfrm>
          <a:prstGeom prst="rect">
            <a:avLst/>
          </a:prstGeom>
          <a:solidFill>
            <a:srgbClr val="FF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65007" y="5029200"/>
            <a:ext cx="164591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D1B36"/>
                </a:solidFill>
                <a:latin typeface="Aptos"/>
              </a:rPr>
              <a:t>Traceability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7" y="5422392"/>
            <a:ext cx="1618488" cy="2926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33146"/>
                </a:solidFill>
                <a:latin typeface="Aptos"/>
              </a:rPr>
              <a:t>Access events support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5048" y="512064"/>
            <a:ext cx="109728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 dirty="0">
                <a:solidFill>
                  <a:srgbClr val="0D1B36"/>
                </a:solidFill>
                <a:latin typeface="Aptos"/>
              </a:rPr>
              <a:t>System Architecture / Block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5173"/>
            <a:ext cx="1078992" cy="5029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5B6D84"/>
                </a:solidFill>
                <a:latin typeface="Aptos"/>
              </a:rPr>
              <a:t>07/17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965960" cy="685800"/>
          </a:xfrm>
          <a:prstGeom prst="roundRect">
            <a:avLst/>
          </a:prstGeom>
          <a:solidFill>
            <a:srgbClr val="142A4E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8FBFF"/>
                </a:solidFill>
                <a:latin typeface="Aptos"/>
              </a:rPr>
              <a:t>Administrator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417320"/>
            <a:ext cx="1965960" cy="685800"/>
          </a:xfrm>
          <a:prstGeom prst="roundRect">
            <a:avLst/>
          </a:prstGeom>
          <a:solidFill>
            <a:srgbClr val="142A4E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8FBFF"/>
                </a:solidFill>
                <a:latin typeface="Aptos"/>
              </a:rPr>
              <a:t>Faculty / Staff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1965960" cy="685800"/>
          </a:xfrm>
          <a:prstGeom prst="roundRect">
            <a:avLst/>
          </a:prstGeom>
          <a:solidFill>
            <a:srgbClr val="142A4E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8FBFF"/>
                </a:solidFill>
                <a:latin typeface="Aptos"/>
              </a:rPr>
              <a:t>Authorized 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606040"/>
            <a:ext cx="3749039" cy="713232"/>
          </a:xfrm>
          <a:prstGeom prst="roundRect">
            <a:avLst/>
          </a:prstGeom>
          <a:solidFill>
            <a:srgbClr val="0F536F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8FBFF"/>
                </a:solidFill>
                <a:latin typeface="Aptos"/>
              </a:rPr>
              <a:t>Application Layer
Authentication • Record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977639"/>
            <a:ext cx="2331720" cy="822960"/>
          </a:xfrm>
          <a:prstGeom prst="roundRect">
            <a:avLst/>
          </a:prstGeom>
          <a:solidFill>
            <a:srgbClr val="145B69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8FBFF"/>
                </a:solidFill>
                <a:latin typeface="Aptos"/>
              </a:rPr>
              <a:t>Policy &amp; Key Manager
Attributes • Key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977639"/>
            <a:ext cx="2331720" cy="822960"/>
          </a:xfrm>
          <a:prstGeom prst="roundRect">
            <a:avLst/>
          </a:prstGeom>
          <a:solidFill>
            <a:srgbClr val="145B69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8FBFF"/>
                </a:solidFill>
                <a:latin typeface="Aptos"/>
              </a:rPr>
              <a:t>Encryption Layer
CP-ABE / hybrid encryption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77639"/>
            <a:ext cx="2331720" cy="822960"/>
          </a:xfrm>
          <a:prstGeom prst="roundRect">
            <a:avLst/>
          </a:prstGeom>
          <a:solidFill>
            <a:srgbClr val="145B69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8FBFF"/>
                </a:solidFill>
                <a:latin typeface="Aptos"/>
              </a:rPr>
              <a:t>Encrypted Storage
Records + metadata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880360"/>
            <a:ext cx="2103120" cy="914400"/>
          </a:xfrm>
          <a:prstGeom prst="roundRect">
            <a:avLst/>
          </a:prstGeom>
          <a:solidFill>
            <a:srgbClr val="106971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8FBFF"/>
                </a:solidFill>
                <a:latin typeface="Aptos"/>
              </a:rPr>
              <a:t>Audit Module
Access events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55648" y="2103120"/>
            <a:ext cx="3044952" cy="502920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33087" y="2103120"/>
            <a:ext cx="667513" cy="502920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800600" y="2103120"/>
            <a:ext cx="1709928" cy="502920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874519" y="3319272"/>
            <a:ext cx="2194561" cy="658367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590288" y="3319272"/>
            <a:ext cx="210312" cy="658367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532120" y="3319272"/>
            <a:ext cx="1801368" cy="658367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75120" y="2971800"/>
            <a:ext cx="2423160" cy="365760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503920" y="3611880"/>
            <a:ext cx="594360" cy="777240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9808" y="5303520"/>
            <a:ext cx="105156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 dirty="0">
                <a:solidFill>
                  <a:srgbClr val="0D1B36"/>
                </a:solidFill>
                <a:latin typeface="Aptos"/>
              </a:rPr>
              <a:t>Trust boundary: storage should hold ciphertext; secret keys must be protected and never written to ordinary application logs.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479" y="528963"/>
            <a:ext cx="109728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 dirty="0">
                <a:solidFill>
                  <a:srgbClr val="0D1B36"/>
                </a:solidFill>
                <a:latin typeface="Aptos"/>
              </a:rPr>
              <a:t>Module Identification &amp; Detailed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09897"/>
            <a:ext cx="1078992" cy="5029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5B6D84"/>
                </a:solidFill>
                <a:latin typeface="Aptos"/>
              </a:rPr>
              <a:t>08/17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56432" cy="31546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46504"/>
            <a:ext cx="64008" cy="304495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136391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D1B36"/>
                </a:solidFill>
                <a:latin typeface="Aptos"/>
              </a:rPr>
              <a:t>Repository &amp; user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21992"/>
            <a:ext cx="3200400" cy="25328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3146"/>
                </a:solidFill>
                <a:latin typeface="Aptos"/>
              </a:defRPr>
            </a:pPr>
            <a:r>
              <a:rPr sz="1300" b="1">
                <a:solidFill>
                  <a:srgbClr val="2AD5E6"/>
                </a:solidFill>
                <a:latin typeface="Aptos"/>
              </a:rPr>
              <a:t>●  </a:t>
            </a:r>
            <a:r>
              <a:rPr sz="1500" b="1">
                <a:solidFill>
                  <a:srgbClr val="233146"/>
                </a:solidFill>
                <a:latin typeface="Aptos"/>
              </a:rPr>
              <a:t>MODULE 01  </a:t>
            </a:r>
          </a:p>
          <a:p>
            <a:pPr>
              <a:spcAft>
                <a:spcPts val="500"/>
              </a:spcAft>
              <a:defRPr sz="1500">
                <a:solidFill>
                  <a:srgbClr val="233146"/>
                </a:solidFill>
                <a:latin typeface="Aptos"/>
              </a:defRPr>
            </a:pPr>
            <a:r>
              <a:rPr sz="1300" b="1">
                <a:solidFill>
                  <a:srgbClr val="2AD5E6"/>
                </a:solidFill>
                <a:latin typeface="Aptos"/>
              </a:rPr>
              <a:t>●  </a:t>
            </a:r>
            <a:r>
              <a:rPr sz="1500">
                <a:solidFill>
                  <a:srgbClr val="233146"/>
                </a:solidFill>
                <a:latin typeface="Aptos"/>
              </a:rPr>
              <a:t>Student-record CRUD, authentication, role assignment and metadata.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06240" y="3246120"/>
            <a:ext cx="256032" cy="0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53712" y="1691640"/>
            <a:ext cx="3456432" cy="31546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53712" y="1746504"/>
            <a:ext cx="64008" cy="3044952"/>
          </a:xfrm>
          <a:prstGeom prst="rect">
            <a:avLst/>
          </a:prstGeom>
          <a:solidFill>
            <a:srgbClr val="14A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828800"/>
            <a:ext cx="3136391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D1B36"/>
                </a:solidFill>
                <a:latin typeface="Aptos"/>
              </a:rPr>
              <a:t>Attribute policy &amp; key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221992"/>
            <a:ext cx="3200400" cy="25328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3146"/>
                </a:solidFill>
                <a:latin typeface="Aptos"/>
              </a:defRPr>
            </a:pPr>
            <a:r>
              <a:rPr sz="1300" b="1">
                <a:solidFill>
                  <a:srgbClr val="14ABBE"/>
                </a:solidFill>
                <a:latin typeface="Aptos"/>
              </a:rPr>
              <a:t>●  </a:t>
            </a:r>
            <a:r>
              <a:rPr sz="1500" b="1">
                <a:solidFill>
                  <a:srgbClr val="233146"/>
                </a:solidFill>
                <a:latin typeface="Aptos"/>
              </a:rPr>
              <a:t>MODULE 02  </a:t>
            </a:r>
          </a:p>
          <a:p>
            <a:pPr>
              <a:spcAft>
                <a:spcPts val="500"/>
              </a:spcAft>
              <a:defRPr sz="1500">
                <a:solidFill>
                  <a:srgbClr val="233146"/>
                </a:solidFill>
                <a:latin typeface="Aptos"/>
              </a:defRPr>
            </a:pPr>
            <a:r>
              <a:rPr sz="1300" b="1">
                <a:solidFill>
                  <a:srgbClr val="14ABBE"/>
                </a:solidFill>
                <a:latin typeface="Aptos"/>
              </a:rPr>
              <a:t>●  </a:t>
            </a:r>
            <a:r>
              <a:rPr sz="1500">
                <a:solidFill>
                  <a:srgbClr val="233146"/>
                </a:solidFill>
                <a:latin typeface="Aptos"/>
              </a:rPr>
              <a:t>Attribute management, policy expressions and cryptographic setup.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28431" y="3246120"/>
            <a:ext cx="256032" cy="0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375904" y="1691640"/>
            <a:ext cx="3456432" cy="31546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75904" y="1746504"/>
            <a:ext cx="64008" cy="3044952"/>
          </a:xfrm>
          <a:prstGeom prst="rect">
            <a:avLst/>
          </a:prstGeom>
          <a:solidFill>
            <a:srgbClr val="FF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58784" y="1828800"/>
            <a:ext cx="3136391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D1B36"/>
                </a:solidFill>
                <a:latin typeface="Aptos"/>
              </a:rPr>
              <a:t>Encrypted sharing &amp; auditing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221992"/>
            <a:ext cx="3200400" cy="25328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3146"/>
                </a:solidFill>
                <a:latin typeface="Aptos"/>
              </a:defRPr>
            </a:pPr>
            <a:r>
              <a:rPr sz="1300" b="1">
                <a:solidFill>
                  <a:srgbClr val="FFB44A"/>
                </a:solidFill>
                <a:latin typeface="Aptos"/>
              </a:rPr>
              <a:t>●  </a:t>
            </a:r>
            <a:r>
              <a:rPr sz="1500" b="1">
                <a:solidFill>
                  <a:srgbClr val="233146"/>
                </a:solidFill>
                <a:latin typeface="Aptos"/>
              </a:rPr>
              <a:t>MODULE 03  </a:t>
            </a:r>
          </a:p>
          <a:p>
            <a:pPr>
              <a:spcAft>
                <a:spcPts val="500"/>
              </a:spcAft>
              <a:defRPr sz="1500">
                <a:solidFill>
                  <a:srgbClr val="233146"/>
                </a:solidFill>
                <a:latin typeface="Aptos"/>
              </a:defRPr>
            </a:pPr>
            <a:r>
              <a:rPr sz="1300" b="1">
                <a:solidFill>
                  <a:srgbClr val="FFB44A"/>
                </a:solidFill>
                <a:latin typeface="Aptos"/>
              </a:rPr>
              <a:t>●  </a:t>
            </a:r>
            <a:r>
              <a:rPr sz="1500">
                <a:solidFill>
                  <a:srgbClr val="233146"/>
                </a:solidFill>
                <a:latin typeface="Aptos"/>
              </a:rPr>
              <a:t>Protected sharing, policy enforcement and event logging.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4632" y="469816"/>
            <a:ext cx="109728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 dirty="0">
                <a:solidFill>
                  <a:srgbClr val="0D1B36"/>
                </a:solidFill>
                <a:latin typeface="Aptos"/>
              </a:rPr>
              <a:t>Module 1 — Repository &amp; User Role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724"/>
            <a:ext cx="1078992" cy="5029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5B6D84"/>
                </a:solidFill>
                <a:latin typeface="Aptos"/>
              </a:rPr>
              <a:t>09/17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17320"/>
            <a:ext cx="5257800" cy="36118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" y="1472184"/>
            <a:ext cx="64008" cy="350215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54480"/>
            <a:ext cx="49377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D1B36"/>
                </a:solidFill>
                <a:latin typeface="Aptos"/>
              </a:rPr>
              <a:t>Core functionalities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47672"/>
            <a:ext cx="5001768" cy="29900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3146"/>
                </a:solidFill>
                <a:latin typeface="Aptos"/>
              </a:defRPr>
            </a:pPr>
            <a:r>
              <a:rPr sz="1300" b="1">
                <a:solidFill>
                  <a:srgbClr val="2AD5E6"/>
                </a:solidFill>
                <a:latin typeface="Aptos"/>
              </a:rPr>
              <a:t>●  </a:t>
            </a:r>
            <a:r>
              <a:rPr sz="1500" b="1">
                <a:solidFill>
                  <a:srgbClr val="233146"/>
                </a:solidFill>
                <a:latin typeface="Aptos"/>
              </a:rPr>
              <a:t>Record management: </a:t>
            </a:r>
            <a:r>
              <a:rPr sz="1500">
                <a:solidFill>
                  <a:srgbClr val="233146"/>
                </a:solidFill>
                <a:latin typeface="Aptos"/>
              </a:rPr>
              <a:t>add, update, view and organize student records.</a:t>
            </a:r>
          </a:p>
          <a:p>
            <a:pPr>
              <a:spcAft>
                <a:spcPts val="500"/>
              </a:spcAft>
              <a:defRPr sz="1500">
                <a:solidFill>
                  <a:srgbClr val="233146"/>
                </a:solidFill>
                <a:latin typeface="Aptos"/>
              </a:defRPr>
            </a:pPr>
            <a:r>
              <a:rPr sz="1300" b="1">
                <a:solidFill>
                  <a:srgbClr val="2AD5E6"/>
                </a:solidFill>
                <a:latin typeface="Aptos"/>
              </a:rPr>
              <a:t>●  </a:t>
            </a:r>
            <a:r>
              <a:rPr sz="1500" b="1">
                <a:solidFill>
                  <a:srgbClr val="233146"/>
                </a:solidFill>
                <a:latin typeface="Aptos"/>
              </a:rPr>
              <a:t>Authentication: </a:t>
            </a:r>
            <a:r>
              <a:rPr sz="1500">
                <a:solidFill>
                  <a:srgbClr val="233146"/>
                </a:solidFill>
                <a:latin typeface="Aptos"/>
              </a:rPr>
              <a:t>register and verify users.</a:t>
            </a:r>
          </a:p>
          <a:p>
            <a:pPr>
              <a:spcAft>
                <a:spcPts val="500"/>
              </a:spcAft>
              <a:defRPr sz="1500">
                <a:solidFill>
                  <a:srgbClr val="233146"/>
                </a:solidFill>
                <a:latin typeface="Aptos"/>
              </a:defRPr>
            </a:pPr>
            <a:r>
              <a:rPr sz="1300" b="1">
                <a:solidFill>
                  <a:srgbClr val="2AD5E6"/>
                </a:solidFill>
                <a:latin typeface="Aptos"/>
              </a:rPr>
              <a:t>●  </a:t>
            </a:r>
            <a:r>
              <a:rPr sz="1500" b="1">
                <a:solidFill>
                  <a:srgbClr val="233146"/>
                </a:solidFill>
                <a:latin typeface="Aptos"/>
              </a:rPr>
              <a:t>Role assignment: </a:t>
            </a:r>
            <a:r>
              <a:rPr sz="1500">
                <a:solidFill>
                  <a:srgbClr val="233146"/>
                </a:solidFill>
                <a:latin typeface="Aptos"/>
              </a:rPr>
              <a:t>assign administrator, faculty or other approved roles.</a:t>
            </a:r>
          </a:p>
          <a:p>
            <a:pPr>
              <a:spcAft>
                <a:spcPts val="500"/>
              </a:spcAft>
              <a:defRPr sz="1500">
                <a:solidFill>
                  <a:srgbClr val="233146"/>
                </a:solidFill>
                <a:latin typeface="Aptos"/>
              </a:defRPr>
            </a:pPr>
            <a:r>
              <a:rPr sz="1300" b="1">
                <a:solidFill>
                  <a:srgbClr val="2AD5E6"/>
                </a:solidFill>
                <a:latin typeface="Aptos"/>
              </a:rPr>
              <a:t>●  </a:t>
            </a:r>
            <a:r>
              <a:rPr sz="1500" b="1">
                <a:solidFill>
                  <a:srgbClr val="233146"/>
                </a:solidFill>
                <a:latin typeface="Aptos"/>
              </a:rPr>
              <a:t>Metadata: </a:t>
            </a:r>
            <a:r>
              <a:rPr sz="1500">
                <a:solidFill>
                  <a:srgbClr val="233146"/>
                </a:solidFill>
                <a:latin typeface="Aptos"/>
              </a:rPr>
              <a:t>associate ownership and record identifiers.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17320"/>
            <a:ext cx="5257800" cy="36118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6208" y="1472184"/>
            <a:ext cx="64008" cy="3502152"/>
          </a:xfrm>
          <a:prstGeom prst="rect">
            <a:avLst/>
          </a:prstGeom>
          <a:solidFill>
            <a:srgbClr val="14A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554480"/>
            <a:ext cx="49377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D1B36"/>
                </a:solidFill>
                <a:latin typeface="Aptos"/>
              </a:rPr>
              <a:t>Inputs → 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947672"/>
            <a:ext cx="5001768" cy="29900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3146"/>
                </a:solidFill>
                <a:latin typeface="Aptos"/>
              </a:defRPr>
            </a:pPr>
            <a:r>
              <a:rPr sz="1300" b="1">
                <a:solidFill>
                  <a:srgbClr val="14ABBE"/>
                </a:solidFill>
                <a:latin typeface="Aptos"/>
              </a:rPr>
              <a:t>●  </a:t>
            </a:r>
            <a:r>
              <a:rPr sz="1500" b="1">
                <a:solidFill>
                  <a:srgbClr val="233146"/>
                </a:solidFill>
                <a:latin typeface="Aptos"/>
              </a:rPr>
              <a:t>Inputs: </a:t>
            </a:r>
            <a:r>
              <a:rPr sz="1500">
                <a:solidFill>
                  <a:srgbClr val="233146"/>
                </a:solidFill>
                <a:latin typeface="Aptos"/>
              </a:rPr>
              <a:t>student details, credentials, role assignments.</a:t>
            </a:r>
          </a:p>
          <a:p>
            <a:pPr>
              <a:spcAft>
                <a:spcPts val="500"/>
              </a:spcAft>
              <a:defRPr sz="1500">
                <a:solidFill>
                  <a:srgbClr val="233146"/>
                </a:solidFill>
                <a:latin typeface="Aptos"/>
              </a:defRPr>
            </a:pPr>
            <a:r>
              <a:rPr sz="1300" b="1">
                <a:solidFill>
                  <a:srgbClr val="14ABBE"/>
                </a:solidFill>
                <a:latin typeface="Aptos"/>
              </a:rPr>
              <a:t>●  </a:t>
            </a:r>
            <a:r>
              <a:rPr sz="1500" b="1">
                <a:solidFill>
                  <a:srgbClr val="233146"/>
                </a:solidFill>
                <a:latin typeface="Aptos"/>
              </a:rPr>
              <a:t>Processing: </a:t>
            </a:r>
            <a:r>
              <a:rPr sz="1500">
                <a:solidFill>
                  <a:srgbClr val="233146"/>
                </a:solidFill>
                <a:latin typeface="Aptos"/>
              </a:rPr>
              <a:t>validate fields, authenticate identity, apply application permissions.</a:t>
            </a:r>
          </a:p>
          <a:p>
            <a:pPr>
              <a:spcAft>
                <a:spcPts val="500"/>
              </a:spcAft>
              <a:defRPr sz="1500">
                <a:solidFill>
                  <a:srgbClr val="233146"/>
                </a:solidFill>
                <a:latin typeface="Aptos"/>
              </a:defRPr>
            </a:pPr>
            <a:r>
              <a:rPr sz="1300" b="1">
                <a:solidFill>
                  <a:srgbClr val="14ABBE"/>
                </a:solidFill>
                <a:latin typeface="Aptos"/>
              </a:rPr>
              <a:t>●  </a:t>
            </a:r>
            <a:r>
              <a:rPr sz="1500" b="1">
                <a:solidFill>
                  <a:srgbClr val="233146"/>
                </a:solidFill>
                <a:latin typeface="Aptos"/>
              </a:rPr>
              <a:t>Outputs: </a:t>
            </a:r>
            <a:r>
              <a:rPr sz="1500">
                <a:solidFill>
                  <a:srgbClr val="233146"/>
                </a:solidFill>
                <a:latin typeface="Aptos"/>
              </a:rPr>
              <a:t>stored record metadata, user profile and role 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74320"/>
            <a:ext cx="109728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0D1B36"/>
                </a:solidFill>
                <a:latin typeface="Aptos"/>
              </a:rPr>
              <a:t>Module 2 — Attribute-Based Policy &amp; Key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32104"/>
            <a:ext cx="1078992" cy="5029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5B6D84"/>
                </a:solidFill>
                <a:latin typeface="Aptos"/>
              </a:rPr>
              <a:t>10/17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44752"/>
            <a:ext cx="5212080" cy="1444752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" y="1499616"/>
            <a:ext cx="64008" cy="1335024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81912"/>
            <a:ext cx="4892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1  Define attributes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75104"/>
            <a:ext cx="4864608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146"/>
                </a:solidFill>
                <a:latin typeface="Aptos"/>
              </a:rPr>
              <a:t>Examples: department, designation, approved purpose.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444752"/>
            <a:ext cx="5212080" cy="1444752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36792" y="1499616"/>
            <a:ext cx="64008" cy="1335024"/>
          </a:xfrm>
          <a:prstGeom prst="rect">
            <a:avLst/>
          </a:prstGeom>
          <a:solidFill>
            <a:srgbClr val="14A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1581912"/>
            <a:ext cx="4892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2  Write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975104"/>
            <a:ext cx="4864608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146"/>
                </a:solidFill>
                <a:latin typeface="Aptos"/>
              </a:rPr>
              <a:t>Example: (Department = CSE) AND (Role = Faculty).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291840"/>
            <a:ext cx="5212080" cy="1444752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232" y="3346704"/>
            <a:ext cx="64008" cy="1335024"/>
          </a:xfrm>
          <a:prstGeom prst="rect">
            <a:avLst/>
          </a:prstGeom>
          <a:solidFill>
            <a:srgbClr val="14A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429000"/>
            <a:ext cx="4892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3  Configure crypto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822191"/>
            <a:ext cx="4864608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146"/>
                </a:solidFill>
                <a:latin typeface="Aptos"/>
              </a:rPr>
              <a:t>Initialize parameters using a vetted CP-ABE implementation.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3291840"/>
            <a:ext cx="5212080" cy="1444752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36792" y="3346704"/>
            <a:ext cx="64008" cy="1335024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9672" y="3429000"/>
            <a:ext cx="48920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4  Issue key material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822191"/>
            <a:ext cx="4864608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146"/>
                </a:solidFill>
                <a:latin typeface="Aptos"/>
              </a:rPr>
              <a:t>Generate user keys linked to approved attributes; protect secrets.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440680"/>
            <a:ext cx="104241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D1B36"/>
                </a:solidFill>
                <a:latin typeface="Aptos"/>
              </a:rPr>
              <a:t>CP-ABE choice: the data owner can attach an access policy to ciphertext. Do not implement custom cryptography for production.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74320"/>
            <a:ext cx="109728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0D1B36"/>
                </a:solidFill>
                <a:latin typeface="Aptos"/>
              </a:rPr>
              <a:t>Module 3 — Encrypted Sharing &amp; Security Auditing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32104"/>
            <a:ext cx="1078992" cy="5029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5B6D84"/>
                </a:solidFill>
                <a:latin typeface="Aptos"/>
              </a:rPr>
              <a:t>11/17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89888"/>
            <a:ext cx="1920240" cy="621792"/>
          </a:xfrm>
          <a:prstGeom prst="roundRect">
            <a:avLst/>
          </a:prstGeom>
          <a:solidFill>
            <a:srgbClr val="142A4E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8FBFF"/>
                </a:solidFill>
                <a:latin typeface="Aptos"/>
              </a:rPr>
              <a:t>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499616"/>
            <a:ext cx="38404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33146"/>
                </a:solidFill>
                <a:latin typeface="Aptos"/>
              </a:rPr>
              <a:t>User asks for a record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029967"/>
            <a:ext cx="0" cy="347473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2960" y="2468880"/>
            <a:ext cx="1920240" cy="621792"/>
          </a:xfrm>
          <a:prstGeom prst="roundRect">
            <a:avLst/>
          </a:prstGeom>
          <a:solidFill>
            <a:srgbClr val="142A4E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8FBFF"/>
                </a:solidFill>
                <a:latin typeface="Aptos"/>
              </a:rPr>
              <a:t>Authorize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578608"/>
            <a:ext cx="38404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33146"/>
                </a:solidFill>
                <a:latin typeface="Aptos"/>
              </a:rPr>
              <a:t>Application checks request and context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83080" y="3108960"/>
            <a:ext cx="0" cy="347472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3547872"/>
            <a:ext cx="1920240" cy="621792"/>
          </a:xfrm>
          <a:prstGeom prst="roundRect">
            <a:avLst/>
          </a:prstGeom>
          <a:solidFill>
            <a:srgbClr val="142A4E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8FBFF"/>
                </a:solidFill>
                <a:latin typeface="Aptos"/>
              </a:rPr>
              <a:t>Decrypt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657600"/>
            <a:ext cx="38404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33146"/>
                </a:solidFill>
                <a:latin typeface="Aptos"/>
              </a:rPr>
              <a:t>CP-ABE policy determines cryptographic eligibility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4187952"/>
            <a:ext cx="0" cy="347472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" y="4626864"/>
            <a:ext cx="1920240" cy="621792"/>
          </a:xfrm>
          <a:prstGeom prst="roundRect">
            <a:avLst/>
          </a:prstGeom>
          <a:solidFill>
            <a:srgbClr val="106971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8FBFF"/>
                </a:solidFill>
                <a:latin typeface="Aptos"/>
              </a:rPr>
              <a:t>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736592"/>
            <a:ext cx="38404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33146"/>
                </a:solidFill>
                <a:latin typeface="Aptos"/>
              </a:rPr>
              <a:t>Record allow/deny outcome and event details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463040"/>
            <a:ext cx="3931920" cy="34747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1517904"/>
            <a:ext cx="64008" cy="3364991"/>
          </a:xfrm>
          <a:prstGeom prst="rect">
            <a:avLst/>
          </a:prstGeom>
          <a:solidFill>
            <a:srgbClr val="FF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79" y="1600200"/>
            <a:ext cx="36118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D1B36"/>
                </a:solidFill>
                <a:latin typeface="Aptos"/>
              </a:rPr>
              <a:t>Audit fields to consider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1993392"/>
            <a:ext cx="3675887" cy="2852927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3146"/>
                </a:solidFill>
                <a:latin typeface="Aptos"/>
              </a:defRPr>
            </a:pPr>
            <a:r>
              <a:rPr sz="1200" b="1">
                <a:solidFill>
                  <a:srgbClr val="FFB44A"/>
                </a:solidFill>
                <a:latin typeface="Aptos"/>
              </a:rPr>
              <a:t>●  </a:t>
            </a:r>
            <a:r>
              <a:rPr sz="1400">
                <a:solidFill>
                  <a:srgbClr val="233146"/>
                </a:solidFill>
                <a:latin typeface="Aptos"/>
              </a:rPr>
              <a:t>User or pseudonymous user ID</a:t>
            </a:r>
          </a:p>
          <a:p>
            <a:pPr>
              <a:spcAft>
                <a:spcPts val="500"/>
              </a:spcAft>
              <a:defRPr sz="1400">
                <a:solidFill>
                  <a:srgbClr val="233146"/>
                </a:solidFill>
                <a:latin typeface="Aptos"/>
              </a:defRPr>
            </a:pPr>
            <a:r>
              <a:rPr sz="1200" b="1">
                <a:solidFill>
                  <a:srgbClr val="FFB44A"/>
                </a:solidFill>
                <a:latin typeface="Aptos"/>
              </a:rPr>
              <a:t>●  </a:t>
            </a:r>
            <a:r>
              <a:rPr sz="1400">
                <a:solidFill>
                  <a:srgbClr val="233146"/>
                </a:solidFill>
                <a:latin typeface="Aptos"/>
              </a:rPr>
              <a:t>Record identifier (not record contents)</a:t>
            </a:r>
          </a:p>
          <a:p>
            <a:pPr>
              <a:spcAft>
                <a:spcPts val="500"/>
              </a:spcAft>
              <a:defRPr sz="1400">
                <a:solidFill>
                  <a:srgbClr val="233146"/>
                </a:solidFill>
                <a:latin typeface="Aptos"/>
              </a:defRPr>
            </a:pPr>
            <a:r>
              <a:rPr sz="1200" b="1">
                <a:solidFill>
                  <a:srgbClr val="FFB44A"/>
                </a:solidFill>
                <a:latin typeface="Aptos"/>
              </a:rPr>
              <a:t>●  </a:t>
            </a:r>
            <a:r>
              <a:rPr sz="1400">
                <a:solidFill>
                  <a:srgbClr val="233146"/>
                </a:solidFill>
                <a:latin typeface="Aptos"/>
              </a:rPr>
              <a:t>Action and outcome</a:t>
            </a:r>
          </a:p>
          <a:p>
            <a:pPr>
              <a:spcAft>
                <a:spcPts val="500"/>
              </a:spcAft>
              <a:defRPr sz="1400">
                <a:solidFill>
                  <a:srgbClr val="233146"/>
                </a:solidFill>
                <a:latin typeface="Aptos"/>
              </a:defRPr>
            </a:pPr>
            <a:r>
              <a:rPr sz="1200" b="1">
                <a:solidFill>
                  <a:srgbClr val="FFB44A"/>
                </a:solidFill>
                <a:latin typeface="Aptos"/>
              </a:rPr>
              <a:t>●  </a:t>
            </a:r>
            <a:r>
              <a:rPr sz="1400">
                <a:solidFill>
                  <a:srgbClr val="233146"/>
                </a:solidFill>
                <a:latin typeface="Aptos"/>
              </a:rPr>
              <a:t>Timestamp and request ID</a:t>
            </a:r>
          </a:p>
          <a:p>
            <a:pPr>
              <a:spcAft>
                <a:spcPts val="500"/>
              </a:spcAft>
              <a:defRPr sz="1400">
                <a:solidFill>
                  <a:srgbClr val="233146"/>
                </a:solidFill>
                <a:latin typeface="Aptos"/>
              </a:defRPr>
            </a:pPr>
            <a:r>
              <a:rPr sz="1200" b="1">
                <a:solidFill>
                  <a:srgbClr val="FFB44A"/>
                </a:solidFill>
                <a:latin typeface="Aptos"/>
              </a:rPr>
              <a:t>●  </a:t>
            </a:r>
            <a:r>
              <a:rPr sz="1400">
                <a:solidFill>
                  <a:srgbClr val="233146"/>
                </a:solidFill>
                <a:latin typeface="Aptos"/>
              </a:rPr>
              <a:t>Reason code, where appropriate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352" y="5166360"/>
            <a:ext cx="3840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5B6D84"/>
                </a:solidFill>
                <a:latin typeface="Aptos"/>
              </a:rPr>
              <a:t>Keep logs useful, access-controlled and free of secret keys or plaintext student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74320"/>
            <a:ext cx="109728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0D1B36"/>
                </a:solidFill>
                <a:latin typeface="Aptos"/>
              </a:rPr>
              <a:t>Workflow / Flowchart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32104"/>
            <a:ext cx="1078992" cy="5029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5B6D84"/>
                </a:solidFill>
                <a:latin typeface="Aptos"/>
              </a:rPr>
              <a:t>12/17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207008"/>
            <a:ext cx="3291840" cy="502920"/>
          </a:xfrm>
          <a:prstGeom prst="roundRect">
            <a:avLst/>
          </a:prstGeom>
          <a:solidFill>
            <a:srgbClr val="142A4E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8FBFF"/>
                </a:solidFill>
                <a:latin typeface="Aptos"/>
              </a:rPr>
              <a:t>1. User logs 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1709928"/>
            <a:ext cx="0" cy="256032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34840" y="1965960"/>
            <a:ext cx="3291840" cy="502920"/>
          </a:xfrm>
          <a:prstGeom prst="roundRect">
            <a:avLst/>
          </a:prstGeom>
          <a:solidFill>
            <a:srgbClr val="142A4E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8FBFF"/>
                </a:solidFill>
                <a:latin typeface="Aptos"/>
              </a:rPr>
              <a:t>2. Authenticate identity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468880"/>
            <a:ext cx="0" cy="256032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34840" y="2724912"/>
            <a:ext cx="3291840" cy="502920"/>
          </a:xfrm>
          <a:prstGeom prst="roundRect">
            <a:avLst/>
          </a:prstGeom>
          <a:solidFill>
            <a:srgbClr val="142A4E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8FBFF"/>
                </a:solidFill>
                <a:latin typeface="Aptos"/>
              </a:rPr>
              <a:t>3. Request student record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3227832"/>
            <a:ext cx="0" cy="246888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4846320" y="3474720"/>
            <a:ext cx="2468880" cy="960120"/>
          </a:xfrm>
          <a:prstGeom prst="diamond">
            <a:avLst/>
          </a:prstGeom>
          <a:solidFill>
            <a:srgbClr val="E0F6F9"/>
          </a:solidFill>
          <a:ln w="19050">
            <a:solidFill>
              <a:srgbClr val="14A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D1B36"/>
                </a:solidFill>
                <a:latin typeface="Aptos"/>
              </a:rPr>
              <a:t>4. Attributes satisfy
policy?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337560" y="3950208"/>
            <a:ext cx="1508760" cy="0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3657600"/>
            <a:ext cx="2423160" cy="594360"/>
          </a:xfrm>
          <a:prstGeom prst="roundRect">
            <a:avLst/>
          </a:prstGeom>
          <a:solidFill>
            <a:srgbClr val="822F42"/>
          </a:solidFill>
          <a:ln w="17780">
            <a:solidFill>
              <a:srgbClr val="E55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8FBFF"/>
                </a:solidFill>
                <a:latin typeface="Aptos"/>
              </a:rPr>
              <a:t>NO • Deny decryption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0" y="3950208"/>
            <a:ext cx="1325880" cy="0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41080" y="3657600"/>
            <a:ext cx="2560320" cy="594360"/>
          </a:xfrm>
          <a:prstGeom prst="roundRect">
            <a:avLst/>
          </a:prstGeom>
          <a:solidFill>
            <a:srgbClr val="136F5B"/>
          </a:solidFill>
          <a:ln w="17780">
            <a:solidFill>
              <a:srgbClr val="35B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8FBFF"/>
                </a:solidFill>
                <a:latin typeface="Aptos"/>
              </a:rPr>
              <a:t>YES • Allow decryption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03120" y="4251960"/>
            <a:ext cx="0" cy="640080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921240" y="4251960"/>
            <a:ext cx="0" cy="640080"/>
          </a:xfrm>
          <a:prstGeom prst="line">
            <a:avLst/>
          </a:prstGeom>
          <a:ln w="25400">
            <a:solidFill>
              <a:srgbClr val="14A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4892040"/>
            <a:ext cx="2423160" cy="548640"/>
          </a:xfrm>
          <a:prstGeom prst="roundRect">
            <a:avLst/>
          </a:prstGeom>
          <a:solidFill>
            <a:srgbClr val="142A4E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8FBFF"/>
                </a:solidFill>
                <a:latin typeface="Aptos"/>
              </a:rPr>
              <a:t>5. Log denied event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4892040"/>
            <a:ext cx="2560320" cy="548640"/>
          </a:xfrm>
          <a:prstGeom prst="roundRect">
            <a:avLst/>
          </a:prstGeom>
          <a:solidFill>
            <a:srgbClr val="142A4E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8FBFF"/>
                </a:solidFill>
                <a:latin typeface="Aptos"/>
              </a:rPr>
              <a:t>5. Log allowed 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5010912"/>
            <a:ext cx="42976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0D1B36"/>
                </a:solidFill>
                <a:latin typeface="Aptos"/>
              </a:rPr>
              <a:t>Every request → a recorded outcome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74320"/>
            <a:ext cx="109728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0D1B36"/>
                </a:solidFill>
                <a:latin typeface="Aptos"/>
              </a:rPr>
              <a:t>Algorithm / Model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32104"/>
            <a:ext cx="1078992" cy="5029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5B6D84"/>
                </a:solidFill>
                <a:latin typeface="Aptos"/>
              </a:rPr>
              <a:t>13/17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17320"/>
            <a:ext cx="3547872" cy="157276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472184"/>
            <a:ext cx="64008" cy="1463040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554480"/>
            <a:ext cx="32278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947672"/>
            <a:ext cx="3200400" cy="9509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146"/>
                </a:solidFill>
                <a:latin typeface="Aptos"/>
              </a:rPr>
              <a:t>Generate public parameters and master secret.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417320"/>
            <a:ext cx="3547872" cy="157276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59" y="1472184"/>
            <a:ext cx="64008" cy="1463040"/>
          </a:xfrm>
          <a:prstGeom prst="rect">
            <a:avLst/>
          </a:prstGeom>
          <a:solidFill>
            <a:srgbClr val="14A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554480"/>
            <a:ext cx="32278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Key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47672"/>
            <a:ext cx="3200400" cy="9509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146"/>
                </a:solidFill>
                <a:latin typeface="Aptos"/>
              </a:rPr>
              <a:t>Create a user secret key tied to approved attributes.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9327" y="1417320"/>
            <a:ext cx="3547872" cy="157276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39327" y="1472184"/>
            <a:ext cx="64008" cy="1463040"/>
          </a:xfrm>
          <a:prstGeom prst="rect">
            <a:avLst/>
          </a:prstGeom>
          <a:solidFill>
            <a:srgbClr val="FF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22207" y="1554480"/>
            <a:ext cx="32278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Encryption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7" y="1947672"/>
            <a:ext cx="3200400" cy="9509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146"/>
                </a:solidFill>
                <a:latin typeface="Aptos"/>
              </a:rPr>
              <a:t>Encrypt the data key under an access policy.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337560"/>
            <a:ext cx="3547872" cy="157276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" y="3392424"/>
            <a:ext cx="64008" cy="1463040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474720"/>
            <a:ext cx="32278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867912"/>
            <a:ext cx="3200400" cy="9509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146"/>
                </a:solidFill>
                <a:latin typeface="Aptos"/>
              </a:rPr>
              <a:t>Provide ciphertext and user key to the decryption process.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337560"/>
            <a:ext cx="3547872" cy="157276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59" y="3392424"/>
            <a:ext cx="64008" cy="1463040"/>
          </a:xfrm>
          <a:prstGeom prst="rect">
            <a:avLst/>
          </a:prstGeom>
          <a:solidFill>
            <a:srgbClr val="14A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474720"/>
            <a:ext cx="32278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867912"/>
            <a:ext cx="3200400" cy="9509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146"/>
                </a:solidFill>
                <a:latin typeface="Aptos"/>
              </a:rPr>
              <a:t>Decryption succeeds only when policy conditions are met.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9327" y="3337560"/>
            <a:ext cx="3547872" cy="157276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39327" y="3392424"/>
            <a:ext cx="64008" cy="1463040"/>
          </a:xfrm>
          <a:prstGeom prst="rect">
            <a:avLst/>
          </a:prstGeom>
          <a:solidFill>
            <a:srgbClr val="FF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22207" y="3474720"/>
            <a:ext cx="3227832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7" y="3867912"/>
            <a:ext cx="3200400" cy="9509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233146"/>
                </a:solidFill>
                <a:latin typeface="Aptos"/>
              </a:rPr>
              <a:t>Log the request and its allow/deny outcome.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532120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D1B36"/>
                </a:solidFill>
                <a:latin typeface="Aptos"/>
              </a:rPr>
              <a:t>Hybrid option: encrypt the file with a standard symmetric cipher, then protect only the symmetric key with CP-ABE.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74320"/>
            <a:ext cx="109728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0D1B36"/>
                </a:solidFill>
                <a:latin typeface="Aptos"/>
              </a:rPr>
              <a:t>Technologies &amp;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32104"/>
            <a:ext cx="1078992" cy="5029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5B6D84"/>
                </a:solidFill>
                <a:latin typeface="Aptos"/>
              </a:rPr>
              <a:t>14/17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63040"/>
            <a:ext cx="3474720" cy="14173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" y="1517904"/>
            <a:ext cx="64008" cy="130759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60020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93392"/>
            <a:ext cx="3127248" cy="7955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33146"/>
                </a:solidFill>
                <a:latin typeface="Aptos"/>
              </a:rPr>
              <a:t>Python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35424" y="1463040"/>
            <a:ext cx="3474720" cy="14173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35424" y="1517904"/>
            <a:ext cx="64008" cy="1307592"/>
          </a:xfrm>
          <a:prstGeom prst="rect">
            <a:avLst/>
          </a:prstGeom>
          <a:solidFill>
            <a:srgbClr val="14A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18304" y="160020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Front 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8304" y="1993392"/>
            <a:ext cx="3127248" cy="7955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33146"/>
                </a:solidFill>
                <a:latin typeface="Aptos"/>
              </a:rPr>
              <a:t>HTML • CSS • JavaScript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57615" y="1463040"/>
            <a:ext cx="3474720" cy="14173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57615" y="1517904"/>
            <a:ext cx="64008" cy="130759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0495" y="1600200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Back 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5" y="1993392"/>
            <a:ext cx="3127248" cy="7955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33146"/>
                </a:solidFill>
                <a:latin typeface="Aptos"/>
              </a:rPr>
              <a:t>Flask or Django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310128"/>
            <a:ext cx="3474720" cy="14173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3232" y="3364992"/>
            <a:ext cx="64008" cy="1307592"/>
          </a:xfrm>
          <a:prstGeom prst="rect">
            <a:avLst/>
          </a:prstGeom>
          <a:solidFill>
            <a:srgbClr val="14A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3447288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840480"/>
            <a:ext cx="3127248" cy="7955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33146"/>
                </a:solidFill>
                <a:latin typeface="Aptos"/>
              </a:rPr>
              <a:t>SQLite (prototype) / PostgreSQL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35424" y="3310128"/>
            <a:ext cx="3474720" cy="14173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35424" y="3364992"/>
            <a:ext cx="64008" cy="130759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18304" y="3447288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Cryptography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3840480"/>
            <a:ext cx="3127248" cy="7955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33146"/>
                </a:solidFill>
                <a:latin typeface="Aptos"/>
              </a:rPr>
              <a:t>Vetted CP-ABE library + standard crypto library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57615" y="3310128"/>
            <a:ext cx="3474720" cy="14173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57615" y="3364992"/>
            <a:ext cx="64008" cy="1307592"/>
          </a:xfrm>
          <a:prstGeom prst="rect">
            <a:avLst/>
          </a:prstGeom>
          <a:solidFill>
            <a:srgbClr val="14A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40495" y="3447288"/>
            <a:ext cx="3154679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D1B36"/>
                </a:solidFill>
                <a:latin typeface="Aptos"/>
              </a:rPr>
              <a:t>Developer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5" y="3840480"/>
            <a:ext cx="3127248" cy="7955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233146"/>
                </a:solidFill>
                <a:latin typeface="Aptos"/>
              </a:rPr>
              <a:t>VS Code • Git • modern browser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5532120"/>
            <a:ext cx="10241280" cy="621792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60120" y="5449824"/>
            <a:ext cx="64008" cy="512064"/>
          </a:xfrm>
          <a:prstGeom prst="rect">
            <a:avLst/>
          </a:prstGeom>
          <a:solidFill>
            <a:srgbClr val="FF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43000" y="5532120"/>
            <a:ext cx="99212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D1B36"/>
                </a:solidFill>
                <a:latin typeface="Aptos"/>
              </a:rPr>
              <a:t>Hardware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925312"/>
            <a:ext cx="9893807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 dirty="0">
                <a:solidFill>
                  <a:srgbClr val="233146"/>
                </a:solidFill>
                <a:latin typeface="Aptos"/>
              </a:rPr>
              <a:t>Development computer with sufficient memory, storage and a supported Python environment.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74320"/>
            <a:ext cx="109728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0D1B36"/>
                </a:solidFill>
                <a:latin typeface="Aptos"/>
              </a:rPr>
              <a:t>Database Design &amp; Initial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32104"/>
            <a:ext cx="1078992" cy="5029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5B6D84"/>
                </a:solidFill>
                <a:latin typeface="Aptos"/>
              </a:rPr>
              <a:t>15/17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298448"/>
            <a:ext cx="2331720" cy="530352"/>
          </a:xfrm>
          <a:prstGeom prst="roundRect">
            <a:avLst/>
          </a:prstGeom>
          <a:solidFill>
            <a:srgbClr val="142A4E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8FBFF"/>
                </a:solidFill>
                <a:latin typeface="Aptos"/>
              </a:rP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0128" y="1371600"/>
            <a:ext cx="50749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33146"/>
                </a:solidFill>
                <a:latin typeface="Aptos"/>
              </a:rPr>
              <a:t>user_id • username • role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929384"/>
            <a:ext cx="7680960" cy="10972"/>
          </a:xfrm>
          <a:prstGeom prst="rect">
            <a:avLst/>
          </a:prstGeom>
          <a:solidFill>
            <a:srgbClr val="E5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3232" y="2103120"/>
            <a:ext cx="2331720" cy="530352"/>
          </a:xfrm>
          <a:prstGeom prst="roundRect">
            <a:avLst/>
          </a:prstGeom>
          <a:solidFill>
            <a:srgbClr val="142A4E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8FBFF"/>
                </a:solidFill>
                <a:latin typeface="Aptos"/>
              </a:rPr>
              <a:t>StudentRecords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2176272"/>
            <a:ext cx="50749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33146"/>
                </a:solidFill>
                <a:latin typeface="Aptos"/>
              </a:rPr>
              <a:t>record_id • owner_id • encrypted_ref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734056"/>
            <a:ext cx="7680960" cy="10972"/>
          </a:xfrm>
          <a:prstGeom prst="rect">
            <a:avLst/>
          </a:prstGeom>
          <a:solidFill>
            <a:srgbClr val="E5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13232" y="2907791"/>
            <a:ext cx="2331720" cy="530352"/>
          </a:xfrm>
          <a:prstGeom prst="roundRect">
            <a:avLst/>
          </a:prstGeom>
          <a:solidFill>
            <a:srgbClr val="142A4E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8FBFF"/>
                </a:solidFill>
                <a:latin typeface="Aptos"/>
              </a:rPr>
              <a:t>Attributes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980944"/>
            <a:ext cx="50749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33146"/>
                </a:solidFill>
                <a:latin typeface="Aptos"/>
              </a:rPr>
              <a:t>attribute_id • user_id • name • value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538727"/>
            <a:ext cx="7680960" cy="10972"/>
          </a:xfrm>
          <a:prstGeom prst="rect">
            <a:avLst/>
          </a:prstGeom>
          <a:solidFill>
            <a:srgbClr val="E5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13232" y="3712464"/>
            <a:ext cx="2331720" cy="530352"/>
          </a:xfrm>
          <a:prstGeom prst="roundRect">
            <a:avLst/>
          </a:prstGeom>
          <a:solidFill>
            <a:srgbClr val="142A4E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8FBFF"/>
                </a:solidFill>
                <a:latin typeface="Aptos"/>
              </a:rPr>
              <a:t>AccessPolicies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3785616"/>
            <a:ext cx="50749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33146"/>
                </a:solidFill>
                <a:latin typeface="Aptos"/>
              </a:rPr>
              <a:t>policy_id • policy_expression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343400"/>
            <a:ext cx="7680960" cy="10972"/>
          </a:xfrm>
          <a:prstGeom prst="rect">
            <a:avLst/>
          </a:prstGeom>
          <a:solidFill>
            <a:srgbClr val="E5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13232" y="4517136"/>
            <a:ext cx="2331720" cy="530352"/>
          </a:xfrm>
          <a:prstGeom prst="roundRect">
            <a:avLst/>
          </a:prstGeom>
          <a:solidFill>
            <a:srgbClr val="142A4E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8FBFF"/>
                </a:solidFill>
                <a:latin typeface="Aptos"/>
              </a:rPr>
              <a:t>AuditLogs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4590288"/>
            <a:ext cx="50749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33146"/>
                </a:solidFill>
                <a:latin typeface="Aptos"/>
              </a:rPr>
              <a:t>event_id • user_id • record_id • action • outcome • timestamp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1417320"/>
            <a:ext cx="2971800" cy="333756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49640" y="1472184"/>
            <a:ext cx="64008" cy="322783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32519" y="1554480"/>
            <a:ext cx="26517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D1B36"/>
                </a:solidFill>
                <a:latin typeface="Aptos"/>
              </a:rPr>
              <a:t>Prototype checklist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1947672"/>
            <a:ext cx="2715768" cy="271576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3146"/>
                </a:solidFill>
                <a:latin typeface="Aptos"/>
              </a:defRPr>
            </a:pPr>
            <a:r>
              <a:rPr sz="1100" b="1">
                <a:solidFill>
                  <a:srgbClr val="2AD5E6"/>
                </a:solidFill>
                <a:latin typeface="Aptos"/>
              </a:rPr>
              <a:t>●  </a:t>
            </a:r>
            <a:r>
              <a:rPr sz="1300">
                <a:solidFill>
                  <a:srgbClr val="233146"/>
                </a:solidFill>
                <a:latin typeface="Aptos"/>
              </a:rPr>
              <a:t>Login and role management</a:t>
            </a:r>
          </a:p>
          <a:p>
            <a:pPr>
              <a:spcAft>
                <a:spcPts val="500"/>
              </a:spcAft>
              <a:defRPr sz="1300">
                <a:solidFill>
                  <a:srgbClr val="233146"/>
                </a:solidFill>
                <a:latin typeface="Aptos"/>
              </a:defRPr>
            </a:pPr>
            <a:r>
              <a:rPr sz="1100" b="1">
                <a:solidFill>
                  <a:srgbClr val="2AD5E6"/>
                </a:solidFill>
                <a:latin typeface="Aptos"/>
              </a:rPr>
              <a:t>●  </a:t>
            </a:r>
            <a:r>
              <a:rPr sz="1300">
                <a:solidFill>
                  <a:srgbClr val="233146"/>
                </a:solidFill>
                <a:latin typeface="Aptos"/>
              </a:rPr>
              <a:t>Record CRUD</a:t>
            </a:r>
          </a:p>
          <a:p>
            <a:pPr>
              <a:spcAft>
                <a:spcPts val="500"/>
              </a:spcAft>
              <a:defRPr sz="1300">
                <a:solidFill>
                  <a:srgbClr val="233146"/>
                </a:solidFill>
                <a:latin typeface="Aptos"/>
              </a:defRPr>
            </a:pPr>
            <a:r>
              <a:rPr sz="1100" b="1">
                <a:solidFill>
                  <a:srgbClr val="2AD5E6"/>
                </a:solidFill>
                <a:latin typeface="Aptos"/>
              </a:rPr>
              <a:t>●  </a:t>
            </a:r>
            <a:r>
              <a:rPr sz="1300">
                <a:solidFill>
                  <a:srgbClr val="233146"/>
                </a:solidFill>
                <a:latin typeface="Aptos"/>
              </a:rPr>
              <a:t>Policy setup</a:t>
            </a:r>
          </a:p>
          <a:p>
            <a:pPr>
              <a:spcAft>
                <a:spcPts val="500"/>
              </a:spcAft>
              <a:defRPr sz="1300">
                <a:solidFill>
                  <a:srgbClr val="233146"/>
                </a:solidFill>
                <a:latin typeface="Aptos"/>
              </a:defRPr>
            </a:pPr>
            <a:r>
              <a:rPr sz="1100" b="1">
                <a:solidFill>
                  <a:srgbClr val="2AD5E6"/>
                </a:solidFill>
                <a:latin typeface="Aptos"/>
              </a:rPr>
              <a:t>●  </a:t>
            </a:r>
            <a:r>
              <a:rPr sz="1300">
                <a:solidFill>
                  <a:srgbClr val="233146"/>
                </a:solidFill>
                <a:latin typeface="Aptos"/>
              </a:rPr>
              <a:t>Encryption/decryption demo</a:t>
            </a:r>
          </a:p>
          <a:p>
            <a:pPr>
              <a:spcAft>
                <a:spcPts val="500"/>
              </a:spcAft>
              <a:defRPr sz="1300">
                <a:solidFill>
                  <a:srgbClr val="233146"/>
                </a:solidFill>
                <a:latin typeface="Aptos"/>
              </a:defRPr>
            </a:pPr>
            <a:r>
              <a:rPr sz="1100" b="1">
                <a:solidFill>
                  <a:srgbClr val="2AD5E6"/>
                </a:solidFill>
                <a:latin typeface="Aptos"/>
              </a:rPr>
              <a:t>●  </a:t>
            </a:r>
            <a:r>
              <a:rPr sz="1300">
                <a:solidFill>
                  <a:srgbClr val="233146"/>
                </a:solidFill>
                <a:latin typeface="Aptos"/>
              </a:rPr>
              <a:t>Access-event logging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956048"/>
            <a:ext cx="2880360" cy="7132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55D6D"/>
                </a:solidFill>
                <a:latin typeface="Aptos"/>
              </a:rPr>
              <a:t>Evidence rule: show screenshots only for features built and tested. Label the rest “planned”.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74320"/>
            <a:ext cx="109728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8FBFF"/>
                </a:solidFill>
                <a:latin typeface="Aptos"/>
              </a:rPr>
              <a:t>Preliminary Evaluation, Work Plan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32104"/>
            <a:ext cx="1078992" cy="50292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10789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E5F0F9"/>
                </a:solidFill>
                <a:latin typeface="Aptos"/>
              </a:rPr>
              <a:t>Planned checks — report results only after running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92240"/>
            <a:ext cx="43891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5B6D84"/>
                </a:solidFill>
                <a:latin typeface="Aptos"/>
              </a:rPr>
              <a:t>16/17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89888"/>
            <a:ext cx="3886200" cy="3246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ED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44752"/>
            <a:ext cx="64008" cy="3136391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35661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D1B36"/>
                </a:solidFill>
                <a:latin typeface="Aptos"/>
              </a:rPr>
              <a:t>Evaluation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920240"/>
            <a:ext cx="3630168" cy="2624327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3146"/>
                </a:solidFill>
                <a:latin typeface="Aptos"/>
              </a:defRPr>
            </a:pPr>
            <a:r>
              <a:rPr sz="1100" b="1">
                <a:solidFill>
                  <a:srgbClr val="2AD5E6"/>
                </a:solidFill>
                <a:latin typeface="Aptos"/>
              </a:rPr>
              <a:t>●  </a:t>
            </a:r>
            <a:r>
              <a:rPr sz="1300">
                <a:solidFill>
                  <a:srgbClr val="233146"/>
                </a:solidFill>
                <a:latin typeface="Aptos"/>
              </a:rPr>
              <a:t>Authorized attributes → permitted decryption</a:t>
            </a:r>
          </a:p>
          <a:p>
            <a:pPr>
              <a:spcAft>
                <a:spcPts val="500"/>
              </a:spcAft>
              <a:defRPr sz="1300">
                <a:solidFill>
                  <a:srgbClr val="233146"/>
                </a:solidFill>
                <a:latin typeface="Aptos"/>
              </a:defRPr>
            </a:pPr>
            <a:r>
              <a:rPr sz="1100" b="1">
                <a:solidFill>
                  <a:srgbClr val="2AD5E6"/>
                </a:solidFill>
                <a:latin typeface="Aptos"/>
              </a:rPr>
              <a:t>●  </a:t>
            </a:r>
            <a:r>
              <a:rPr sz="1300">
                <a:solidFill>
                  <a:srgbClr val="233146"/>
                </a:solidFill>
                <a:latin typeface="Aptos"/>
              </a:rPr>
              <a:t>Non-matching attributes → decryption denied</a:t>
            </a:r>
          </a:p>
          <a:p>
            <a:pPr>
              <a:spcAft>
                <a:spcPts val="500"/>
              </a:spcAft>
              <a:defRPr sz="1300">
                <a:solidFill>
                  <a:srgbClr val="233146"/>
                </a:solidFill>
                <a:latin typeface="Aptos"/>
              </a:defRPr>
            </a:pPr>
            <a:r>
              <a:rPr sz="1100" b="1">
                <a:solidFill>
                  <a:srgbClr val="2AD5E6"/>
                </a:solidFill>
                <a:latin typeface="Aptos"/>
              </a:rPr>
              <a:t>●  </a:t>
            </a:r>
            <a:r>
              <a:rPr sz="1300">
                <a:solidFill>
                  <a:srgbClr val="233146"/>
                </a:solidFill>
                <a:latin typeface="Aptos"/>
              </a:rPr>
              <a:t>Allow/deny events → correctly logged</a:t>
            </a:r>
          </a:p>
          <a:p>
            <a:pPr>
              <a:spcAft>
                <a:spcPts val="500"/>
              </a:spcAft>
              <a:defRPr sz="1300">
                <a:solidFill>
                  <a:srgbClr val="233146"/>
                </a:solidFill>
                <a:latin typeface="Aptos"/>
              </a:defRPr>
            </a:pPr>
            <a:r>
              <a:rPr sz="1100" b="1">
                <a:solidFill>
                  <a:srgbClr val="2AD5E6"/>
                </a:solidFill>
                <a:latin typeface="Aptos"/>
              </a:rPr>
              <a:t>●  </a:t>
            </a:r>
            <a:r>
              <a:rPr sz="1300">
                <a:solidFill>
                  <a:srgbClr val="233146"/>
                </a:solidFill>
                <a:latin typeface="Aptos"/>
              </a:rPr>
              <a:t>Measure encryption/decryption time</a:t>
            </a:r>
          </a:p>
          <a:p>
            <a:pPr>
              <a:spcAft>
                <a:spcPts val="500"/>
              </a:spcAft>
              <a:defRPr sz="1300">
                <a:solidFill>
                  <a:srgbClr val="233146"/>
                </a:solidFill>
                <a:latin typeface="Aptos"/>
              </a:defRPr>
            </a:pPr>
            <a:r>
              <a:rPr sz="1100" b="1">
                <a:solidFill>
                  <a:srgbClr val="2AD5E6"/>
                </a:solidFill>
                <a:latin typeface="Aptos"/>
              </a:rPr>
              <a:t>●  </a:t>
            </a:r>
            <a:r>
              <a:rPr sz="1300">
                <a:solidFill>
                  <a:srgbClr val="233146"/>
                </a:solidFill>
                <a:latin typeface="Aptos"/>
              </a:rPr>
              <a:t>Measure access-decision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389888"/>
            <a:ext cx="63093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8FBFF"/>
                </a:solidFill>
                <a:latin typeface="Aptos"/>
              </a:rPr>
              <a:t>6-WEEK WORK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8032" y="1810512"/>
            <a:ext cx="777240" cy="384048"/>
          </a:xfrm>
          <a:prstGeom prst="roundRect">
            <a:avLst/>
          </a:prstGeom>
          <a:solidFill>
            <a:srgbClr val="145570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8FBFF"/>
                </a:solidFill>
                <a:latin typeface="Aptos"/>
              </a:rPr>
              <a:t>W1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837943"/>
            <a:ext cx="51206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5F0F9"/>
                </a:solidFill>
                <a:latin typeface="Aptos"/>
              </a:rPr>
              <a:t>Requirements &amp; literature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8032" y="2368296"/>
            <a:ext cx="777240" cy="384048"/>
          </a:xfrm>
          <a:prstGeom prst="roundRect">
            <a:avLst/>
          </a:prstGeom>
          <a:solidFill>
            <a:srgbClr val="145570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8FBFF"/>
                </a:solidFill>
                <a:latin typeface="Aptos"/>
              </a:rPr>
              <a:t>W2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395727"/>
            <a:ext cx="51206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5F0F9"/>
                </a:solidFill>
                <a:latin typeface="Aptos"/>
              </a:rPr>
              <a:t>Architecture &amp; 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28032" y="2926080"/>
            <a:ext cx="777240" cy="384048"/>
          </a:xfrm>
          <a:prstGeom prst="roundRect">
            <a:avLst/>
          </a:prstGeom>
          <a:solidFill>
            <a:srgbClr val="145570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8FBFF"/>
                </a:solidFill>
                <a:latin typeface="Aptos"/>
              </a:rPr>
              <a:t>W3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953512"/>
            <a:ext cx="51206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5F0F9"/>
                </a:solidFill>
                <a:latin typeface="Aptos"/>
              </a:rPr>
              <a:t>Repository &amp; roles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8032" y="3483864"/>
            <a:ext cx="777240" cy="384048"/>
          </a:xfrm>
          <a:prstGeom prst="roundRect">
            <a:avLst/>
          </a:prstGeom>
          <a:solidFill>
            <a:srgbClr val="145570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8FBFF"/>
                </a:solidFill>
                <a:latin typeface="Aptos"/>
              </a:rPr>
              <a:t>W4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511296"/>
            <a:ext cx="51206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5F0F9"/>
                </a:solidFill>
                <a:latin typeface="Aptos"/>
              </a:rPr>
              <a:t>Policy &amp; key setup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8032" y="4041648"/>
            <a:ext cx="777240" cy="384048"/>
          </a:xfrm>
          <a:prstGeom prst="roundRect">
            <a:avLst/>
          </a:prstGeom>
          <a:solidFill>
            <a:srgbClr val="145570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8FBFF"/>
                </a:solidFill>
                <a:latin typeface="Aptos"/>
              </a:rPr>
              <a:t>W5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4069080"/>
            <a:ext cx="51206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5F0F9"/>
                </a:solidFill>
                <a:latin typeface="Aptos"/>
              </a:rPr>
              <a:t>Sharing &amp; auditing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28032" y="4599431"/>
            <a:ext cx="777240" cy="384048"/>
          </a:xfrm>
          <a:prstGeom prst="roundRect">
            <a:avLst/>
          </a:prstGeom>
          <a:solidFill>
            <a:srgbClr val="145570"/>
          </a:solidFill>
          <a:ln w="17780">
            <a:solidFill>
              <a:srgbClr val="2A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8FBFF"/>
                </a:solidFill>
                <a:latin typeface="Aptos"/>
              </a:rPr>
              <a:t>W6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4626864"/>
            <a:ext cx="51206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E5F0F9"/>
                </a:solidFill>
                <a:latin typeface="Aptos"/>
              </a:rPr>
              <a:t>Testing &amp; documentation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5394960"/>
            <a:ext cx="6492240" cy="22860"/>
          </a:xfrm>
          <a:prstGeom prst="rect">
            <a:avLst/>
          </a:prstGeom>
          <a:solidFill>
            <a:srgbClr val="2AD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28032" y="5559552"/>
            <a:ext cx="621792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E5F0F9"/>
                </a:solidFill>
                <a:latin typeface="Aptos"/>
              </a:rPr>
              <a:t>Expected outcome: a demonstrable, policy-controlled and auditable student-data exchange prototype.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961120" y="0"/>
            <a:ext cx="3230575" cy="6858000"/>
          </a:xfrm>
          <a:prstGeom prst="roundRect">
            <a:avLst/>
          </a:prstGeom>
          <a:solidFill>
            <a:srgbClr val="14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646920" y="685800"/>
            <a:ext cx="1920240" cy="1920240"/>
          </a:xfrm>
          <a:prstGeom prst="roundRect">
            <a:avLst/>
          </a:prstGeom>
          <a:solidFill>
            <a:srgbClr val="163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95560" y="3063240"/>
            <a:ext cx="1234440" cy="1234440"/>
          </a:xfrm>
          <a:prstGeom prst="roundRect">
            <a:avLst/>
          </a:prstGeom>
          <a:solidFill>
            <a:srgbClr val="114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89720" y="4892040"/>
            <a:ext cx="2103120" cy="1325880"/>
          </a:xfrm>
          <a:prstGeom prst="roundRect">
            <a:avLst/>
          </a:prstGeom>
          <a:solidFill>
            <a:srgbClr val="13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7132320" cy="5029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300" b="1">
                <a:solidFill>
                  <a:srgbClr val="2AD5E6"/>
                </a:solidFill>
                <a:latin typeface="Aptos"/>
              </a:rPr>
              <a:t>FRESH PRIVACY-PRESERVING STUDENT DATA EXCHANGE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7223760" cy="9601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3800" b="1">
                <a:solidFill>
                  <a:srgbClr val="F8FBFF"/>
                </a:solidFill>
                <a:latin typeface="Aptos"/>
              </a:rP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063240"/>
            <a:ext cx="6766560" cy="5029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2200" b="1">
                <a:solidFill>
                  <a:srgbClr val="2AD5E6"/>
                </a:solidFill>
                <a:latin typeface="Aptos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69080"/>
            <a:ext cx="7040880" cy="91440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500" b="0">
                <a:solidFill>
                  <a:srgbClr val="E5F0F9"/>
                </a:solidFill>
                <a:latin typeface="Aptos"/>
              </a:rPr>
              <a:t>Using Attribute-Based Encryption (ABE)
Department of Computer Science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1097280"/>
            <a:ext cx="1828800" cy="64008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5000" b="1">
                <a:solidFill>
                  <a:srgbClr val="2AD5E6"/>
                </a:solidFill>
                <a:latin typeface="Aptos"/>
              </a:rPr>
              <a:t>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1828800"/>
            <a:ext cx="2194560" cy="41148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000" b="1">
                <a:solidFill>
                  <a:srgbClr val="E5F0F9"/>
                </a:solidFill>
                <a:latin typeface="Aptos"/>
              </a:rPr>
              <a:t>PRIVACY  • 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92240"/>
            <a:ext cx="438912" cy="18288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r"/>
            <a:r>
              <a:rPr sz="900" b="1">
                <a:solidFill>
                  <a:srgbClr val="E5F0F9"/>
                </a:solidFill>
                <a:latin typeface="Aptos"/>
              </a:rP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1229</Words>
  <Application>Microsoft Office PowerPoint</Application>
  <PresentationFormat>Widescreen</PresentationFormat>
  <Paragraphs>233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 Privacy-Preserving Student Data Exchange Using Attribute-Based Encryption</dc:title>
  <dc:subject>Student data privacy, attribute-based encryption and secure sharing</dc:subject>
  <dc:creator>P. Nikitha, Ch. Ishwarya, P. Sunayana</dc:creator>
  <cp:keywords>ABE, CP-ABE, student data privacy, encryption, access control, audit logging</cp:keywords>
  <dc:description>generated using python-pptx</dc:description>
  <cp:lastModifiedBy>Sunaina Pamujula</cp:lastModifiedBy>
  <cp:revision>2</cp:revision>
  <dcterms:created xsi:type="dcterms:W3CDTF">2013-01-27T09:14:16Z</dcterms:created>
  <dcterms:modified xsi:type="dcterms:W3CDTF">2026-10-23T10:25:28Z</dcterms:modified>
  <cp:category/>
</cp:coreProperties>
</file>